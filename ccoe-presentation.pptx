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Building a Cloud Center of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DDEE"/>
                </a:solidFill>
                <a:latin typeface="Segoe UI"/>
              </a:defRPr>
            </a:pPr>
            <a:r>
              <a:t>From Scratch — Azure, AWS &amp; Bare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BBDD"/>
                </a:solidFill>
                <a:latin typeface="Segoe UI"/>
              </a:defRPr>
            </a:pPr>
            <a:r>
              <a:t>Vince Maidens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Segoe UI"/>
              </a:rPr>
              <a:t>• Enable, don't block — self-service by default, guardrails not gates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Segoe UI"/>
              </a:rPr>
              <a:t>• Measure everything — FinOps, security posture, adoption velocity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Segoe UI"/>
              </a:rPr>
              <a:t>• Start small, scale fast — pilot, prove, then expand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Segoe UI"/>
              </a:rPr>
              <a:t>• Hybrid-aware — bare metal is first-class, not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Team Structure (~5-6 FTEs)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184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Count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Focus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CCoE Leads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Strategy, executive reporting (Vince Maidens, Peter Main)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Cloud Architect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1-2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Azure/AWS standards, design reviews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FinOps Analyst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Cost visibility, optimisation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Security Lead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NCSC CSP, IAM, policy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Platform Engineer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1-2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Landing zones, IaC, automation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Developer Advocate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Training, docs, evangelism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24-Week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10058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Focus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0 — Foundation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1-4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See everything, win fast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 — Guardrails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5-10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Safe self-service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 — Enablement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11-16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Accelerate adoption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 — Optimisation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17-24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Continuous improvement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Phase 0: Quick Wins (First 30 Days)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  <a:latin typeface="Segoe UI"/>
              </a:rPr>
              <a:t>• Tag compliance report + auto-tag policy — visibility in 1 day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  <a:latin typeface="Segoe UI"/>
              </a:rPr>
              <a:t>• Rightsize idle VMs — immediate cost savings in 2 days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  <a:latin typeface="Segoe UI"/>
              </a:rPr>
              <a:t>• Enable Azure Policy baseline — NCSC CSP aligned in 1 day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  <a:latin typeface="Segoe UI"/>
              </a:rPr>
              <a:t>• Publish Cloud Playbook — how to deploy a web app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  <a:latin typeface="Segoe UI"/>
              </a:rPr>
              <a:t>• Set up cost alerts — subscription-level governance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  <a:latin typeface="Segoe UI"/>
              </a:rPr>
              <a:t>• Bare metal risk register — top 10 highest-risk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Phase 1: Guardrails (Weeks 5-10)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Azure Landing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Management group hierarchy aligned to business units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Separate subscriptions for cost isolation and blast radius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Azure Blueprints for repeatable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PIM + Conditional Access baseline (massive win, zero dev friction)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Managed Identities replacing service accounts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NCSC CSP aligned Azure Policy initiatives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Bare Metal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Asset registry, patch SLAs, decommission process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Integrate monitoring with central Log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Phase 2: Enablement (Weeks 11-16)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IaC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Bicep (Azure), Terraform (AWS), Ansible (bare metal)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Template library: pre-approved patterns for common workloads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PR reviews for all infrastructure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Self-Service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"Deploy a web app" (App Service + SQL + WAF)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"Deploy containers" (AKS + ACR + App Gateway)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"Dev/test environment" (sandbox subscription)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"Connect on-premises" (ExpressRoute + private endpoints)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"Cloud 101" workshop — hands-on, free sandbox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Certification targets: AZ-900 (80% staff), AZ-104 (50%), AZ-305 (architects)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Phase 3: Optimisation (Weeks 17-24)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FinOps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Cost allocation tags enforced across all subscriptions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Reserved instances / savings plans (1-year and 3-year)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Auto-shutdown for dev/test environments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Cost-per-workload dashboard per business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Security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Zero Trust architecture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Defender for Cloud on all subscriptions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Key Vault migration — eliminate hardcoded secrets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Automated compliance reporting (NCSC CSP)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7A"/>
                </a:solidFill>
                <a:latin typeface="Segoe UI"/>
              </a:defRPr>
            </a:pPr>
            <a:r>
              <a:t>Bare Metal Modernisation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Segoe UI"/>
              </a:rPr>
              <a:t>• Waves: stabilise → automate → assess → migrate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KPIs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184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6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12</a:t>
                      </a:r>
                    </a:p>
                  </a:txBody>
                  <a:tcPr marL="76200" marR="76200" marT="50800" marB="50800">
                    <a:solidFill>
                      <a:srgbClr val="003D7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Reserved instance coverage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40%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70%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Security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Resources compliant with Policy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95%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Security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Privileged access via PIM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Adoption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New deployments via IaC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Adoption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Staff certified (AZ-900+)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80%</a:t>
                      </a:r>
                    </a:p>
                  </a:txBody>
                  <a:tcPr marL="76200" marR="76200" marT="50800" marB="50800">
                    <a:solidFill>
                      <a:srgbClr val="F5F7F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Bare Metal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Servers with monitoring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Immediate Next Steps (This Week)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Segoe UI"/>
              </a:rPr>
              <a:t>✅ Executive sponsorship secured — Ciaran Barr (CIO)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Segoe UI"/>
              </a:rPr>
              <a:t>Draft CCoE charter — scope, authority, KPIs, team structure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Segoe UI"/>
              </a:rPr>
              <a:t>Run Azure resource graph — produce estate summary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Segoe UI"/>
              </a:rPr>
              <a:t>Schedule CCoE kickoff — with all potential team members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Segoe UI"/>
              </a:rPr>
              <a:t>Identify bare metal inventory owner — who knows what's on-premises?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Segoe UI"/>
              </a:rPr>
              <a:t>Set up cost alerts — Azure Cost Management on all subscriptions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Segoe UI"/>
              </a:defRPr>
            </a:pPr>
            <a:r>
              <a:t>Vince Maidens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9BBDD"/>
                </a:solidFill>
                <a:latin typeface="Segoe UI"/>
              </a:defRPr>
            </a:pPr>
            <a:r>
              <a:t>vmaidens@capita.com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